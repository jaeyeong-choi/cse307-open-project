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D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669280"/>
            <a:ext cx="12191695" cy="1188720"/>
          </a:xfrm>
          <a:prstGeom prst="rect">
            <a:avLst/>
          </a:prstGeom>
          <a:solidFill>
            <a:srgbClr val="10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Inverting Python: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60A5FA"/>
                </a:solidFill>
                <a:latin typeface="Calibri"/>
              </a:defRPr>
            </a:pPr>
            <a:r>
              <a:t>Designing NTP-Prior-Resistant Confusion Languages</a:t>
            </a:r>
            <a:br/>
            <a:r>
              <a:t>for LLM-Resistant Coding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200400"/>
            <a:ext cx="393192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Jaeyeong CHOI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64748B"/>
                </a:solidFill>
                <a:latin typeface="Calibri"/>
              </a:defRPr>
            </a:pPr>
            <a:r>
              <a:t>DGIST EECS  |  jaeyeong2022@dgist.ac.kr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7B9BBB"/>
                </a:solidFill>
                <a:latin typeface="Calibri"/>
              </a:defRPr>
            </a:pPr>
            <a:r>
              <a:t>13 Models   |   1,140+ L4 Evaluations   |   4-Level Taxonomy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1">
                <a:solidFill>
                  <a:srgbClr val="60A5FA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0292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813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E293B"/>
                </a:solidFill>
                <a:latin typeface="Calibri"/>
              </a:defRPr>
            </a:pPr>
            <a:r>
              <a:t>Problem &amp; 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08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4748B"/>
                </a:solidFill>
                <a:latin typeface="Calibri"/>
              </a:defRPr>
            </a:pPr>
            <a:r>
              <a:t>Why LLMs undermine coding assessments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03120"/>
            <a:ext cx="50292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214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E293B"/>
                </a:solidFill>
                <a:latin typeface="Calibri"/>
              </a:defRPr>
            </a:pPr>
            <a:r>
              <a:t>Core Asymmetry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148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4748B"/>
                </a:solidFill>
                <a:latin typeface="Calibri"/>
              </a:defRPr>
            </a:pPr>
            <a:r>
              <a:t>Human reasoning vs. LLM sampling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743200"/>
            <a:ext cx="50292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889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7614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E293B"/>
                </a:solidFill>
                <a:latin typeface="Calibri"/>
              </a:defRPr>
            </a:pPr>
            <a:r>
              <a:t>Research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788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4748B"/>
                </a:solidFill>
                <a:latin typeface="Calibri"/>
              </a:defRPr>
            </a:pPr>
            <a:r>
              <a:t>Contributions &amp; approach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83279"/>
            <a:ext cx="50292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2899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401567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E293B"/>
                </a:solidFill>
                <a:latin typeface="Calibri"/>
              </a:defRPr>
            </a:pPr>
            <a:r>
              <a:t>4-Level Taxonomy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42899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4748B"/>
                </a:solidFill>
                <a:latin typeface="Calibri"/>
              </a:defRPr>
            </a:pPr>
            <a:r>
              <a:t>L1–L4 perturbation depth × rule delivery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023360"/>
            <a:ext cx="50292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6908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0416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E293B"/>
                </a:solidFill>
                <a:latin typeface="Calibri"/>
              </a:defRPr>
            </a:pPr>
            <a:r>
              <a:t>Experimental 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069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4748B"/>
                </a:solidFill>
                <a:latin typeface="Calibri"/>
              </a:defRPr>
            </a:pPr>
            <a:r>
              <a:t>L1 through L4, ablations, multi-task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663440"/>
            <a:ext cx="50292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7091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6817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E293B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709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4748B"/>
                </a:solidFill>
                <a:latin typeface="Calibri"/>
              </a:defRPr>
            </a:pPr>
            <a:r>
              <a:t>Prior entrenchment, hard tasks, failure modes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303519"/>
            <a:ext cx="50292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34923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321807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E293B"/>
                </a:solidFill>
                <a:latin typeface="Calibri"/>
              </a:defRPr>
            </a:pPr>
            <a:r>
              <a:t>Educational Implications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53492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4748B"/>
                </a:solidFill>
                <a:latin typeface="Calibri"/>
              </a:defRPr>
            </a:pPr>
            <a:r>
              <a:t>Design recipe for instructors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943599"/>
            <a:ext cx="50292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8931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5961887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E293B"/>
                </a:solidFill>
                <a:latin typeface="Calibri"/>
              </a:defRPr>
            </a:pPr>
            <a:r>
              <a:t>Conclusion &amp; Future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598931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4748B"/>
                </a:solidFill>
                <a:latin typeface="Calibri"/>
              </a:defRPr>
            </a:pPr>
            <a:r>
              <a:t>Human study, broader tasks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Problem: LLMs Solve Coding Assignments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1">
                <a:solidFill>
                  <a:srgbClr val="60A5FA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•  LLMs (GPT-4o, o3, etc.) now routinely solve standard CS1/CS2 programming tasks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•  Students can submit LLM-generated code with minimal understanding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•  Traditional defenses are insufficient: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     –  Plagiarism detectors: LLM output is unique per generation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     –  Proctoring: students use LLMs outside exam windows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     –  Oral follow-ups: don't scale to large lecture courses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•  Need: a structural defense that makes assignments inherently LLM-resistant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•  Approach: exploit the fundamental mechanism gap between humans and LLMs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Core Asymmetry: Human Reasons, LLM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4A3B8"/>
                </a:solidFill>
                <a:latin typeface="Calibri"/>
              </a:defRPr>
            </a:pPr>
            <a:r>
              <a:t>Fundamentally different mechanisms for code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1">
                <a:solidFill>
                  <a:srgbClr val="60A5FA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394960" cy="429768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2563EB"/>
                </a:solidFill>
                <a:latin typeface="Calibri"/>
              </a:defRPr>
            </a:pPr>
            <a:r>
              <a:t>Human Student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 Reads explicit rule from instructor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 Verifies rule against worked examples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 Applies rule step-by-step to new problems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 Reasoning-based: rule → application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 Can override prior knowledge with new rules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846320"/>
            <a:ext cx="4846320" cy="5486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892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6A34A"/>
                </a:solidFill>
                <a:latin typeface="Calibri"/>
              </a:defRPr>
            </a:pPr>
            <a:r>
              <a:t>Can learn inverted semantics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5394960" cy="429768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554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DC2626"/>
                </a:solidFill>
                <a:latin typeface="Calibri"/>
              </a:defRPr>
            </a:pPr>
            <a:r>
              <a:t>LLM (GPT-4o, o3, gpt-5.4, ...)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031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 Samples from NTP prior distribution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 Prior built from billions of Python tokens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 'if n &lt;= 1: return n' deeply entrenched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 Generation-based: prior → sampling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 Cannot override deep priors via context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4846320"/>
            <a:ext cx="4846320" cy="54864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4892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DC2626"/>
                </a:solidFill>
                <a:latin typeface="Calibri"/>
              </a:defRPr>
            </a:pPr>
            <a:r>
              <a:t>Fails on inverted Fibonacci (0% across 13 models)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3200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1E2D5A"/>
                </a:solidFill>
                <a:latin typeface="Calibri"/>
              </a:defRPr>
            </a:pPr>
            <a:r>
              <a:t>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Research Question &amp;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1">
                <a:solidFill>
                  <a:srgbClr val="60A5FA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109728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E2D5A"/>
                </a:solidFill>
                <a:latin typeface="Calibri"/>
              </a:defRPr>
            </a:pPr>
            <a:r>
              <a:t>RQ: Can we design a language perturbation that humans can learn from examples but LLMs cannot solve, by exploiting NTP prior entrenchment?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C1: 4-level confusion language taxonomy (token → syntax → semantic-explicit → semantic-implicit)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C2: Empirical evaluation across 13 models (1,140+ L4 runs), including frontier gpt-5.4 and o3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C3: Prior entrenchment depth hypothesis — task difficulty ≠ LLM resistance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C4: Three failure modes taxonomy (Prior Dominance, Pattern Blindness, Operational Substitution)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C5: Practical design recipe for LLM-resistant programming assessments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C6: I/O transparency as key design axis — I/O-opaque tasks create universal resistance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4-Level Confusion Language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4A3B8"/>
                </a:solidFill>
                <a:latin typeface="Calibri"/>
              </a:defRPr>
            </a:pPr>
            <a:r>
              <a:t>Perturbation depth × Rule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1">
                <a:solidFill>
                  <a:srgbClr val="60A5FA"/>
                </a:solidFill>
                <a:latin typeface="Calibri"/>
              </a:defRPr>
            </a:pPr>
            <a:r>
              <a:t>Taxonomy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41732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828800"/>
                <a:gridCol w="2011680"/>
                <a:gridCol w="2286000"/>
                <a:gridCol w="2560320"/>
                <a:gridCol w="201168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Perturbation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Rule Delivery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Failure Mode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L1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Token Alias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Explicit (prompt)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DISPLAY → print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Partial (KLR 0.21–1.00)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Prior Dominance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L2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Syntax Inversion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Explicit (prompt)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for i in 3..0 = ascending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All models comply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L3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Semantic Inversion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Explicit (prompt)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if-block runs when FALSE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Capacity-dependent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Model threshold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L4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Semantic Inversion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Implicit (examples only)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Worked examples only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ALL fail (0%)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Pattern Blindness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2563EB"/>
                </a:solidFill>
                <a:latin typeface="Calibri"/>
              </a:defRPr>
            </a:pPr>
            <a:r>
              <a:t>Finding: Only L4 (implicit rule + deep prior) defeats ALL models universally.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L1: Token Substitution — Design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4A3B8"/>
                </a:solidFill>
                <a:latin typeface="Calibri"/>
              </a:defRPr>
            </a:pPr>
            <a:r>
              <a:t>Keyword Leakage Rate (KLR, lower = better alias compliance)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1">
                <a:solidFill>
                  <a:srgbClr val="60A5FA"/>
                </a:solidFill>
                <a:latin typeface="Calibri"/>
              </a:defRPr>
            </a:pPr>
            <a:r>
              <a:t>L1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52120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280160"/>
                <a:gridCol w="640080"/>
                <a:gridCol w="914400"/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Delivery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KLR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gpt-4.1-mini  ← best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ctx-pack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0.21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Llama-3.3-70B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Groq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0.23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gpt-4o-mini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ctx-pack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0.26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o4-mini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ctx-pack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0.27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ctx-pack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0.30</a:t>
                      </a:r>
                    </a:p>
                  </a:txBody>
                  <a:tcPr anchor="ctr"/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0.37</a:t>
                      </a:r>
                    </a:p>
                  </a:txBody>
                  <a:tcPr anchor="ctr"/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gpt-4.1-nano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ctx-pack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0.38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gpt-5.4-mini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0.67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Qwen3-32B  ← worst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Groq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</a:p>
                  </a:txBody>
                  <a:tcPr anchor="ctr"/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223760" y="1371600"/>
            <a:ext cx="4572000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44475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2563EB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810512"/>
            <a:ext cx="42062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Context-pack reduces KLR: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gpt-4o-mini: 0.42 → 0.26 (−38%)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gpt-4.1-mini: 0.43 → 0.21 (−51%)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gpt-5.4-mini (0.67) worse than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older gpt-4o (0.37)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Cross-family variance (0.21–1.00)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exceeds intra-family variance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Architecture &amp; fine-tuning govern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alias compliance, not model size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L2: Syntax Inversion — Design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4A3B8"/>
                </a:solidFill>
                <a:latin typeface="Calibri"/>
              </a:defRPr>
            </a:pPr>
            <a:r>
              <a:t>SIR = 0.0 across all tested models (fully adopted)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1">
                <a:solidFill>
                  <a:srgbClr val="60A5FA"/>
                </a:solidFill>
                <a:latin typeface="Calibri"/>
              </a:defRPr>
            </a:pPr>
            <a:r>
              <a:t>L2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E293B"/>
                </a:solidFill>
                <a:latin typeface="Calibri"/>
              </a:defRPr>
            </a:pPr>
            <a:r>
              <a:t>Design: Invert loop/range syntax (e.g., for i in 3..0 means ascending 0→3).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64748B"/>
                </a:solidFill>
                <a:latin typeface="Calibri"/>
              </a:defRPr>
            </a:pPr>
            <a:r>
              <a:t>Explicit rules provided in prompt. Models tested: gpt-4o, gpt-4.1-mini, gpt-4.1-nano (n=20 each).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286000" y="256032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SIR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gpt-4.1-mini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gpt-4.1-nano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2286000" y="4754880"/>
            <a:ext cx="73152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482803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6A34A"/>
                </a:solidFill>
                <a:latin typeface="Calibri"/>
              </a:defRPr>
            </a:pPr>
            <a:r>
              <a:t>Finding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5193792"/>
            <a:ext cx="6949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 Syntax-level inversion with explicit rules is trivially adopted by all models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 No LLM resistance at this level — rules are shallow and easily followed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 This motivates moving to semantic-level perturbation (L3/L4)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L3: Semantic Inversion (Explicit) — Capacity Threshold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4A3B8"/>
                </a:solidFill>
                <a:latin typeface="Calibri"/>
              </a:defRPr>
            </a:pPr>
            <a:r>
              <a:t>if-blocks run when condition is FALSE; rule stated explicitly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1">
                <a:solidFill>
                  <a:srgbClr val="60A5FA"/>
                </a:solidFill>
                <a:latin typeface="Calibri"/>
              </a:defRPr>
            </a:pPr>
            <a:r>
              <a:t>L3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56692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31520"/>
                <a:gridCol w="201168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PPR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20/20 PASS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gpt-4.1-mini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20/20 PASS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gpt-4.1-nano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20/20 PASS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gpt-4.1 (T2)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10/10 PASS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gpt-4o-mini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0/5 FAIL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Qwen3-32B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0/20 FAIL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223760" y="1371600"/>
            <a:ext cx="45720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44475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2563EB"/>
                </a:solidFill>
                <a:latin typeface="Calibri"/>
              </a:defRPr>
            </a:pPr>
            <a:r>
              <a:t>Finding 2: Capacity Threshold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810512"/>
            <a:ext cx="42062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Larger models (gpt-4o, 4.1-mini,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4.1-nano) follow explicit rules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Smaller gpt-4o-mini: 0/5 FAIL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Qwen3-32B: 0/20 FAIL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L3 alone is insufficient —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capable models can follow explicit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semantic inversion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2563EB"/>
                </a:solidFill>
                <a:latin typeface="Calibri"/>
              </a:defRPr>
            </a:pPr>
            <a:r>
              <a:t>Implication: Explicit rule delivery is not enough. We must withhold the rule and let models infer from examples → L4.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L4: Semantic Inversion (Implicit) —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4A3B8"/>
                </a:solidFill>
                <a:latin typeface="Calibri"/>
              </a:defRPr>
            </a:pPr>
            <a:r>
              <a:t>Examples only, no explicit rule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1">
                <a:solidFill>
                  <a:srgbClr val="60A5FA"/>
                </a:solidFill>
                <a:latin typeface="Calibri"/>
              </a:defRPr>
            </a:pPr>
            <a:r>
              <a:t>L4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Core hypothesis: If the rule is never stated, only demonstrated through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   worked examples, LLMs cannot extract it due to NTP prior dominance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Prompt structure: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   1. System prompt defines the confusion language concept (no rule stated)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   2. 3–5 worked input/output examples showing inverted semantics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   3. Target task (e.g., Fibonacci) to implement in the confusion language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Key design choice: if-blocks execute when condition is FALSE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   → Standard Fibonacci base case 'if n &lt;= 1: return n' must become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      'if n &gt; 1: return n' (the negated condition triggers execution)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Evaluation: strict string/AST match for inverted conditionals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No partial credit — either the model produces correct inverted code or fails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L4 Ablation: 5 Variant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4A3B8"/>
                </a:solidFill>
                <a:latin typeface="Calibri"/>
              </a:defRPr>
            </a:pPr>
            <a:r>
              <a:t>Strict example-only, varying example count and hint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1">
                <a:solidFill>
                  <a:srgbClr val="60A5FA"/>
                </a:solidFill>
                <a:latin typeface="Calibri"/>
              </a:defRPr>
            </a:pPr>
            <a:r>
              <a:t>L4 Ablation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828800"/>
                <a:gridCol w="2011680"/>
                <a:gridCol w="612648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Variant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Examples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Hint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Variant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 examples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 hint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Baseline: maximum demonstration, zero guidance</a:t>
                      </a:r>
                    </a:p>
                  </a:txBody>
                  <a:tcPr anchor="ctr"/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Variant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 examples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 hint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Reduced examples test minimum context</a:t>
                      </a:r>
                    </a:p>
                  </a:txBody>
                  <a:tcPr anchor="ctr"/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Variant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 examples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Subtle hint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Hint about 'unusual control flow' behavior</a:t>
                      </a:r>
                    </a:p>
                  </a:txBody>
                  <a:tcPr anchor="ctr"/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Variant 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 examples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Moderate hint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Hint about conditional semantics specifically</a:t>
                      </a:r>
                    </a:p>
                  </a:txBody>
                  <a:tcPr anchor="ctr"/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Variant 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 examples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Strong hint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Near-explicit hint about inversion direction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4748B"/>
                </a:solidFill>
                <a:latin typeface="Calibri"/>
              </a:defRPr>
            </a:pPr>
            <a:r>
              <a:t>Each variant tested on 9 models × n=10 per model = n=50 total per variant (n=450 total ablation runs)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029200"/>
            <a:ext cx="112471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102352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DC2626"/>
                </a:solidFill>
                <a:latin typeface="Calibri"/>
              </a:defRPr>
            </a:pPr>
            <a:r>
              <a:t>Design Rationale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6811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 Variants A→E form a gradient from pure example-only to near-explicit rule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 If any variant succeeds, pattern blindness is solvable with enough hints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 Result preview: NONE succeed on Fibonacci (0/450 across 9 models)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L4 Ablation Results: 9 Models, 0% Pass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4A3B8"/>
                </a:solidFill>
                <a:latin typeface="Calibri"/>
              </a:defRPr>
            </a:pPr>
            <a:r>
              <a:t>5 variants × n=10 per model = n=50 total per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1">
                <a:solidFill>
                  <a:srgbClr val="60A5FA"/>
                </a:solidFill>
                <a:latin typeface="Calibri"/>
              </a:defRPr>
            </a:pPr>
            <a:r>
              <a:t>L4 Ablation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37160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914400"/>
                <a:gridCol w="5303520"/>
                <a:gridCol w="16459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Pass / n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PPR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Notable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gpt-4o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0/50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OpenAI Core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gpt-4o-mini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0/50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OpenAI Core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gpt-4.1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0/50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OpenAI Core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gpt-4.1-mini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0/50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Variant B PPR=0.0 (decomposition)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OpenAI Core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gpt-4.1-nano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0/50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0.20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Template fragmentation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OpenAI Core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gpt-5.4-mini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0/42 valid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8 parse failures excluded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OpenAI Core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o4-mini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0/45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0.60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Reasoning model, partial effect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Reasoning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Llama-3.3-70B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0/25 valid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0.52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Variant C–E context-sensitive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Open-weight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Qwen3-32B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0/50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Open-weight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74320" y="4846320"/>
            <a:ext cx="116128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9194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DC2626"/>
                </a:solidFill>
                <a:latin typeface="Calibri"/>
              </a:defRPr>
            </a:pPr>
            <a:r>
              <a:t>Finding 3: Universal Pattern Blindness on Fibonacci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8523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 0% pass rate across ALL 9 models, ALL 5 variants (0/450+ total runs)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 Even strong hints (Variant E) and reasoning models (o4-mini) cannot overcome prior entrenchment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 gpt-4.1-nano PPR=0.20 is template fragmentation, not rule extraction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L4 CoT Ablation: Chain-of-Thought Does NOT 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4A3B8"/>
                </a:solidFill>
                <a:latin typeface="Calibri"/>
              </a:defRPr>
            </a:pPr>
            <a:r>
              <a:t>Reasoning ≠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1">
                <a:solidFill>
                  <a:srgbClr val="60A5FA"/>
                </a:solidFill>
                <a:latin typeface="Calibri"/>
              </a:defRPr>
            </a:pPr>
            <a:r>
              <a:t>L4 CoT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71600" y="1371600"/>
          <a:ext cx="9144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No-CoT (n=20)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CoT (n=20)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Effect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gpt-4o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0/20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0/20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gpt-4.1-mini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0/20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0/20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gpt-4.1-nano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0/20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0/20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o4-mini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0/20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1/20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97706"/>
                          </a:solidFill>
                          <a:latin typeface="Calibri"/>
                        </a:defRPr>
                      </a:pPr>
                      <a:r>
                        <a:t>Minimal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371600" y="4389120"/>
            <a:ext cx="91440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4462272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2563EB"/>
                </a:solidFill>
                <a:latin typeface="Calibri"/>
              </a:defRPr>
            </a:pPr>
            <a:r>
              <a:t>Finding 4: Reasoning-Generation Dissociation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828032"/>
            <a:ext cx="8778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 160 total CoT runs across 4 models — CoT has zero effect for 3/4 models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 Models can articulate the inversion rule in their reasoning trace (100% mention rate)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 But still generate standard Python code in the output — NTP prior overrides reasoning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 o4-mini: 1/20 marginal success — reasoning model architecture provides minimal benefit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L4 Multi-task: Task Dependency on Prior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4A3B8"/>
                </a:solidFill>
                <a:latin typeface="Calibri"/>
              </a:defRPr>
            </a:pPr>
            <a:r>
              <a:t>T1=Fibonacci, T2=is_sorted, T3=count_vowels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1">
                <a:solidFill>
                  <a:srgbClr val="60A5FA"/>
                </a:solidFill>
                <a:latin typeface="Calibri"/>
              </a:defRPr>
            </a:pPr>
            <a:r>
              <a:t>L4 Multi-task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371600"/>
          <a:ext cx="108813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1645920"/>
                <a:gridCol w="1828800"/>
                <a:gridCol w="3931920"/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T1: Fibonacci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T2: is_sorted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T3: count_vowels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0/50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T3: 94% OpSub (n=50)</a:t>
                      </a:r>
                    </a:p>
                  </a:txBody>
                  <a:tcPr anchor="ctr"/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gpt-4o-mini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</a:p>
                  </a:txBody>
                  <a:tcPr anchor="ctr"/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1/50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T2: shallow prior, 1/50</a:t>
                      </a:r>
                    </a:p>
                  </a:txBody>
                  <a:tcPr anchor="ctr"/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gpt-4.1-mini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0/20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20/20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0/20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T2 fully solved</a:t>
                      </a:r>
                    </a:p>
                  </a:txBody>
                  <a:tcPr anchor="ctr"/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gpt-4.1-nano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</a:p>
                  </a:txBody>
                  <a:tcPr anchor="ctr"/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gpt-5.4-mini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</a:p>
                  </a:txBody>
                  <a:tcPr anchor="ctr"/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o4-mini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97706"/>
                          </a:solidFill>
                          <a:latin typeface="Calibri"/>
                        </a:defRPr>
                      </a:pPr>
                      <a:r>
                        <a:t>8/15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Partial annotation only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74320" y="5120640"/>
            <a:ext cx="116128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937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2563EB"/>
                </a:solidFill>
                <a:latin typeface="Calibri"/>
              </a:defRPr>
            </a:pPr>
            <a:r>
              <a:t>Finding 5: Prior Depth Determines Resistance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5955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 T1 (Fibonacci): universally fails — deep, uniform prior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 T2 (is_sorted): some models succeed — shallow prior, idiomatic variation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 T3 (count_vowels): fails but via operational substitution (94% in gpt-4o), not pattern blindness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Key Finding: Prior Entrenchment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4A3B8"/>
                </a:solidFill>
                <a:latin typeface="Calibri"/>
              </a:defRPr>
            </a:pPr>
            <a:r>
              <a:t>Not task complexity, but prior depth governs LLM resistance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1">
                <a:solidFill>
                  <a:srgbClr val="60A5FA"/>
                </a:solidFill>
                <a:latin typeface="Calibri"/>
              </a:defRPr>
            </a:pPr>
            <a:r>
              <a:t>Key Finding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1247120" cy="141732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DC2626"/>
                </a:solidFill>
                <a:latin typeface="Calibri"/>
              </a:defRPr>
            </a:pPr>
            <a:r>
              <a:t>Deep Prior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5361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E293B"/>
                </a:solidFill>
                <a:latin typeface="Calibri"/>
              </a:defRPr>
            </a:pPr>
            <a:r>
              <a:t>Task: Fibonacci recursion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874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4748B"/>
                </a:solidFill>
                <a:latin typeface="Calibri"/>
              </a:defRPr>
            </a:pPr>
            <a:r>
              <a:t>Pattern: if n &lt;= 1: return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194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4748B"/>
                </a:solidFill>
                <a:latin typeface="Calibri"/>
              </a:defRPr>
            </a:pPr>
            <a:r>
              <a:t>Billions of training examples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DC2626"/>
                </a:solidFill>
                <a:latin typeface="Calibri"/>
              </a:defRPr>
            </a:pPr>
            <a:r>
              <a:t>ALL models fail (0%)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63240"/>
            <a:ext cx="11247120" cy="1417320"/>
          </a:xfrm>
          <a:prstGeom prst="rect">
            <a:avLst/>
          </a:prstGeom>
          <a:solidFill>
            <a:srgbClr val="FFFBEB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1363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D97706"/>
                </a:solidFill>
                <a:latin typeface="Calibri"/>
              </a:defRPr>
            </a:pPr>
            <a:r>
              <a:t>Medium Prior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1363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E293B"/>
                </a:solidFill>
                <a:latin typeface="Calibri"/>
              </a:defRPr>
            </a:pPr>
            <a:r>
              <a:t>Task: count_vowels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474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4748B"/>
                </a:solidFill>
                <a:latin typeface="Calibri"/>
              </a:defRPr>
            </a:pPr>
            <a:r>
              <a:t>Pattern: if char in 'aeiou': count +=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794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4748B"/>
                </a:solidFill>
                <a:latin typeface="Calibri"/>
              </a:defRPr>
            </a:pPr>
            <a:r>
              <a:t>Common but varied 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337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D97706"/>
                </a:solidFill>
                <a:latin typeface="Calibri"/>
              </a:defRPr>
            </a:pPr>
            <a:r>
              <a:t>Fails, but via workaround (OpSub 94%)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63440"/>
            <a:ext cx="11247120" cy="1417320"/>
          </a:xfrm>
          <a:prstGeom prst="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7365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6A34A"/>
                </a:solidFill>
                <a:latin typeface="Calibri"/>
              </a:defRPr>
            </a:pPr>
            <a:r>
              <a:t>Shallow Prior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7365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E293B"/>
                </a:solidFill>
                <a:latin typeface="Calibri"/>
              </a:defRPr>
            </a:pPr>
            <a:r>
              <a:t>Task: is_sorted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074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4748B"/>
                </a:solidFill>
                <a:latin typeface="Calibri"/>
              </a:defRPr>
            </a:pPr>
            <a:r>
              <a:t>Pattern: all(a[i] &lt;= a[i+1])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394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4748B"/>
                </a:solidFill>
                <a:latin typeface="Calibri"/>
              </a:defRPr>
            </a:pPr>
            <a:r>
              <a:t>Multiple valid idioms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6A34A"/>
                </a:solidFill>
                <a:latin typeface="Calibri"/>
              </a:defRPr>
            </a:pPr>
            <a:r>
              <a:t>Some models succeed (gpt-4.1-mini: 20/20)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2563EB"/>
                </a:solidFill>
                <a:latin typeface="Calibri"/>
              </a:defRPr>
            </a:pPr>
            <a:r>
              <a:t>Implication: Effective confusion languages must target deep, uniform priors (e.g., Fibonacci recursion).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Hard Tasks: Complex Algorithms Defeated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4A3B8"/>
                </a:solidFill>
                <a:latin typeface="Calibri"/>
              </a:defRPr>
            </a:pPr>
            <a:r>
              <a:t>Task complexity ≠ LLM resistance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1">
                <a:solidFill>
                  <a:srgbClr val="60A5FA"/>
                </a:solidFill>
                <a:latin typeface="Calibri"/>
              </a:defRPr>
            </a:pPr>
            <a:r>
              <a:t>Key Finding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H1: MergeSort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H2: BinSearch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H3: BFS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97706"/>
                          </a:solidFill>
                          <a:latin typeface="Calibri"/>
                        </a:defRPr>
                      </a:pPr>
                      <a:r>
                        <a:t>4/10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24/30 (80%)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gpt-5.4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30/30 (100%)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30/30 (100%)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o4-mini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30/30 (100%)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389120"/>
            <a:ext cx="53035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4622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2563EB"/>
                </a:solidFill>
                <a:latin typeface="Calibri"/>
              </a:defRPr>
            </a:pPr>
            <a:r>
              <a:t>Contrast with L4 Fibonacci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28032"/>
            <a:ext cx="4937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 Same models on Fibonacci: ALL fail (0%)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 Same models on hard tasks: near 100%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 Prior entrenchment depth, not task difficulty,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governs LLM resistance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4389120"/>
            <a:ext cx="55778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46227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DC2626"/>
                </a:solidFill>
                <a:latin typeface="Calibri"/>
              </a:defRPr>
            </a:pPr>
            <a:r>
              <a:t>Key Implication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828032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 Making assignments harder does NOT make them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more LLM-resistant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 Deep, uniform priors (Fibonacci) = resistant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 Varied implementations (BFS, sort) = solvable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E24: Frontier Models Still Fail on Fibonacci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4A3B8"/>
                </a:solidFill>
                <a:latin typeface="Calibri"/>
              </a:defRPr>
            </a:pPr>
            <a:r>
              <a:t>gpt-5.4 and o3 achieve 0/10 on prior-entrenched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1">
                <a:solidFill>
                  <a:srgbClr val="60A5FA"/>
                </a:solidFill>
                <a:latin typeface="Calibri"/>
              </a:defRPr>
            </a:pPr>
            <a:r>
              <a:t>Frontier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PPR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Hard Tasks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gpt-5.4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Fibonacci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30/30 (100%)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Fibonacci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30/30 (100%)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93192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 The most capable models available (as of March 2025) still exhibit 100% PPR on Fibonacci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 gpt-5.4 achieves 30/30 on hard tasks (MergeSort, BinSearch, BFS) but 0/10 on inverted Fibonacci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 o3 (reasoning model) also fails completely despite advanced reasoning capabilities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 This demonstrates that pattern blindness is a fundamental architectural limitation,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not a capability gap that scales away with model size or reasoning capability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 Prior entrenchment in Fibonacci is so deep that even frontier models cannot override it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from examples alone — the NTP prior dominates generation regardless of context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Three Failure Modes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4A3B8"/>
                </a:solidFill>
                <a:latin typeface="Calibri"/>
              </a:defRPr>
            </a:pPr>
            <a:r>
              <a:t>Distinct mechanisms behind LLM failure on confusion languages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1">
                <a:solidFill>
                  <a:srgbClr val="60A5FA"/>
                </a:solidFill>
                <a:latin typeface="Calibri"/>
              </a:defRPr>
            </a:pPr>
            <a:r>
              <a:t>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3749039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2563EB"/>
                </a:solidFill>
                <a:latin typeface="Calibri"/>
              </a:defRPr>
            </a:pPr>
            <a:r>
              <a:t>1. Prior Dominance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Rule is stated or implicit but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overridden by pretrained prior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Where: L1, L3-weak, L4-T1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Example: generates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'if n &lt;= 1: return n'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despite inversion rule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83.1% of L4 failures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(Type-I dominant)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371600"/>
            <a:ext cx="3749039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DC2626"/>
                </a:solidFill>
                <a:latin typeface="Calibri"/>
              </a:defRPr>
            </a:pPr>
            <a:r>
              <a:t>2. Pattern Blindness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0116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Model cannot extract the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semantic rule from examples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Where: L4-T1 (Fibonacci)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Evidence: Same model passes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L3 (explicit) but fails L4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(implicit) on same task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Universal across all 13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tested models on Fibonacci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3749039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EA580C"/>
                </a:solidFill>
                <a:latin typeface="Calibri"/>
              </a:defRPr>
            </a:pPr>
            <a:r>
              <a:t>3. Operational Substitution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0116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Model compensates via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arithmetic transformation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instead of adopting the rule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Where: L4-T3 (count_vowels)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Example: count -= 1;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return -count to match output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94% of gpt-4o T3 runs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(47/50, CI: [83%, 99%])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Operational Substitution: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4A3B8"/>
                </a:solidFill>
                <a:latin typeface="Calibri"/>
              </a:defRPr>
            </a:pPr>
            <a:r>
              <a:t>Models achieve correct output without learning the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1">
                <a:solidFill>
                  <a:srgbClr val="60A5FA"/>
                </a:solidFill>
                <a:latin typeface="Calibri"/>
              </a:defRPr>
            </a:pPr>
            <a:r>
              <a:t>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 Definition: Model produces functionally correct output by applying an arithmetic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or logical transformation to standard code, rather than adopting the confusion language rule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 Key example (gpt-4o, count_vowels, T3):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–  Expected: use inverted if-block (count when char NOT in vowels, negate result)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–  Actual: count -= 1 for each vowel, then return -count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–  Produces correct numeric output but does NOT use inverted semantics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 Detection methodology: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1. Parse generated code AST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2. Check if any conditional uses inverted logic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3. If conditionals are standard but output matches → operational substitution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 Prevalence: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–  gpt-4o T3: 47/50 = 94% operational substitution rate (Wilson CI: [83%, 99%])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–  Demonstrates that models can be 'clever' about matching outputs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  without actually learning the underlying rule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 Implication: Output-matching evaluation alone is insufficient;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structural/AST-based checking is required to detect true rule adoption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E32: Cross-task Transfer — L4 Resistance Can Be Broken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4A3B8"/>
                </a:solidFill>
                <a:latin typeface="Calibri"/>
              </a:defRPr>
            </a:pPr>
            <a:r>
              <a:t>Showing inverted examples from OTHER tasks breaks isolation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1">
                <a:solidFill>
                  <a:srgbClr val="60A5FA"/>
                </a:solidFill>
                <a:latin typeface="Calibri"/>
              </a:defRPr>
            </a:pPr>
            <a:r>
              <a:t>E32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02412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00400"/>
                <a:gridCol w="22860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Condition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gpt-4o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Treatment (cross-task)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97706"/>
                          </a:solidFill>
                          <a:latin typeface="Calibri"/>
                        </a:defRPr>
                      </a:pPr>
                      <a:r>
                        <a:t>6/10 (60%)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gpt-4.1-mini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Treatment (cross-task)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10/10 (100%)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p&lt;0.001 (Fisher)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o4-mini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Treatment (cross-task)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1/10 (10%)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gpt-4o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Control (ascending sort)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 (0%)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3931920"/>
            <a:ext cx="548640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0050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DC2626"/>
                </a:solidFill>
                <a:latin typeface="Calibri"/>
              </a:defRPr>
            </a:pPr>
            <a:r>
              <a:t>Key Finding: Cross-task Transfer is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70832"/>
            <a:ext cx="51206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Control = 0% vs treatment = 60–100%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gpt-4.1-mini: isolation 0/50 → contamination 10/10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(Fisher exact p&lt;0.001)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Cross-task examples from OTHER tasks in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same prompt break L4 resistance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931920"/>
            <a:ext cx="548640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050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2563EB"/>
                </a:solidFill>
                <a:latin typeface="Calibri"/>
              </a:defRPr>
            </a:pPr>
            <a:r>
              <a:t>Implication for Assessment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370832"/>
            <a:ext cx="51206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PROMPT ISOLATION is critical: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each task must be in separate prompt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Multi-task prompts leak cross-task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inversion patterns to the LLM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Design principle: one task per prompt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E34: Annotation Density — The Example-Only Paradox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4A3B8"/>
                </a:solidFill>
                <a:latin typeface="Calibri"/>
              </a:defRPr>
            </a:pPr>
            <a:r>
              <a:t>0% annotation outperforms 100% explicit rule for ALL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1">
                <a:solidFill>
                  <a:srgbClr val="60A5FA"/>
                </a:solidFill>
                <a:latin typeface="Calibri"/>
              </a:defRPr>
            </a:pPr>
            <a:r>
              <a:t>E34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371600"/>
          <a:ext cx="116128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920240"/>
                <a:gridCol w="1920240"/>
                <a:gridCol w="1920240"/>
                <a:gridCol w="1920240"/>
                <a:gridCol w="1920240"/>
              </a:tblGrid>
              <a:tr h="86868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0% (example)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75%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100% (rule)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97706"/>
                          </a:solidFill>
                          <a:latin typeface="Calibri"/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97706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gpt-4.1-mini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80%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97706"/>
                          </a:solidFill>
                          <a:latin typeface="Calibri"/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97706"/>
                          </a:solidFill>
                          <a:latin typeface="Calibri"/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o4-mini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70%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97706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74320" y="5120640"/>
            <a:ext cx="56692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93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DC2626"/>
                </a:solidFill>
                <a:latin typeface="Calibri"/>
              </a:defRPr>
            </a:pPr>
            <a:r>
              <a:t>Paradox: Pattern Mimicry &gt; Rule-Following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59552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0% annotation (example-only) outperforms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100% explicit rule for ALL 3 models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Adding rules HURTS performance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Models learn better from examples than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5120640"/>
            <a:ext cx="56692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193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2563EB"/>
                </a:solidFill>
                <a:latin typeface="Calibri"/>
              </a:defRPr>
            </a:pPr>
            <a:r>
              <a:t>Design Implication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559552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For contamination scenarios (E32),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example-only transfer is most effective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Explicit annotation can be counterproductive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Non-monotonic: no simple density optimum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E35: I/O Opacity — Universal Resistance via Opaque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4A3B8"/>
                </a:solidFill>
                <a:latin typeface="Calibri"/>
              </a:defRPr>
            </a:pPr>
            <a:r>
              <a:t>I/O-opaque tasks defeat ALL models regardless of prior strength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1">
                <a:solidFill>
                  <a:srgbClr val="60A5FA"/>
                </a:solidFill>
                <a:latin typeface="Calibri"/>
              </a:defRPr>
            </a:pPr>
            <a:r>
              <a:t>E35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1371600"/>
                <a:gridCol w="228600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I/O-Opaque Pass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gpt-4o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gpt-4.1-mini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o4-mini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3931920"/>
            <a:ext cx="53035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0050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2563EB"/>
                </a:solidFill>
                <a:latin typeface="Calibri"/>
              </a:defRPr>
            </a:pPr>
            <a:r>
              <a:t>E31 PES: Prior Strength is NOT the Factor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70832"/>
            <a:ext cx="49377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Both fib and merge_sort have PES≥0.9996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(near-identical prior strength)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Yet: fib=0% pass, merge_sort=100% pass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Difference: I/O TRANSPARENCY, not prior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I/O-opaque tasks: 0/30 across all models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931920"/>
            <a:ext cx="557784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00507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6A34A"/>
                </a:solidFill>
                <a:latin typeface="Calibri"/>
              </a:defRPr>
            </a:pPr>
            <a:r>
              <a:t>Design Axis: I/O Transparency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370832"/>
            <a:ext cx="52120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I/O transparency = can model verify its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output matches expected I/O from examples?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Transparent: sort, search (easy to verify)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Opaque: Fibonacci inversion (hard to verify)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Opacity alone creates universal resistance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independent of prior entrenchment strength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Summary: All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4A3B8"/>
                </a:solidFill>
                <a:latin typeface="Calibri"/>
              </a:defRPr>
            </a:pPr>
            <a:r>
              <a:t>Complete experimental coverage across 13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1">
                <a:solidFill>
                  <a:srgbClr val="60A5FA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23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" y="1280160"/>
          <a:ext cx="95097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731520"/>
                <a:gridCol w="1371600"/>
                <a:gridCol w="2103120"/>
                <a:gridCol w="2743200"/>
              </a:tblGrid>
              <a:tr h="386861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Experiment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Models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Metric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L1 KLR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~590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KLR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0.21–1.00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Partial resistance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L2 Syntax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SIR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Fully adopted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L3 Explicit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PPR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0.0–1.0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Capacity threshold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L4 Ablation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450+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Universal failure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L4 CoT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160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0–1/20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CoT no help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L4 Multi-task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345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Task-dependent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Prior depth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L4 Hard Tasks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80–100%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Complexity ≠ resistance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E24 Frontier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PPR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Still fails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E31 PES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PES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≥0.9996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Prior strength equal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E32 Cross-task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10–100%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Transfer breaks L4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E34 Density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150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Non-monotonic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0% annot. best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</a:tr>
              <a:tr h="38686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E35 I/O Opacity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Universal resistance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Educational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4A3B8"/>
                </a:solidFill>
                <a:latin typeface="Calibri"/>
              </a:defRPr>
            </a:pPr>
            <a:r>
              <a:t>Practical guidance for LLM-resistant programming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1">
                <a:solidFill>
                  <a:srgbClr val="60A5FA"/>
                </a:solidFill>
                <a:latin typeface="Calibri"/>
              </a:defRPr>
            </a:pPr>
            <a:r>
              <a:t>Implications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 L4 confusion languages restore discriminative power in coding assessments</a:t>
            </a: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 Students who understand rules (from lecture) retain advantage over LLM-assisted submissions</a:t>
            </a: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 Current models universally fail L4 Fibonacci while humans can apply rules from examples</a:t>
            </a: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 Key insight: The defense is structural, not just a prompt trick — it exploits a fundamental</a:t>
            </a: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   limitation in how LLMs generate code (NTP prior dominance)</a:t>
            </a: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 Scalability: Confusion languages work at scale — no manual code review needed,</a:t>
            </a: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   just automated AST-based checking for inverted semantics</a:t>
            </a: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 Caveats:</a:t>
            </a: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   –  Tasks with shallow priors (is_sorted) may still be solvable by capable models</a:t>
            </a: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   –  Partial annotation can help reasoning models (o4-mini: 8/15 with hints)</a:t>
            </a: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   –  Human baseline study needed to quantify exact performance gap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Design Recipe for Instructors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4A3B8"/>
                </a:solidFill>
                <a:latin typeface="Calibri"/>
              </a:defRPr>
            </a:pPr>
            <a:r>
              <a:t>Step-by-step guide to creating LLM-resistant assignments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1">
                <a:solidFill>
                  <a:srgbClr val="60A5FA"/>
                </a:solidFill>
                <a:latin typeface="Calibri"/>
              </a:defRPr>
            </a:pPr>
            <a:r>
              <a:t>Implications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904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356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1E293B"/>
                </a:solidFill>
                <a:latin typeface="Calibri"/>
              </a:defRPr>
            </a:pPr>
            <a:r>
              <a:t>Retain Python surface 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4748B"/>
                </a:solidFill>
                <a:latin typeface="Calibri"/>
              </a:defRPr>
            </a:pPr>
            <a:r>
              <a:t>Students already know Python; minimize cognitive overhead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134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2585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1E293B"/>
                </a:solidFill>
                <a:latin typeface="Calibri"/>
              </a:defRPr>
            </a:pPr>
            <a:r>
              <a:t>Choose deep-prior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2860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4748B"/>
                </a:solidFill>
                <a:latin typeface="Calibri"/>
              </a:defRPr>
            </a:pPr>
            <a:r>
              <a:t>Fibonacci recursion, not sorting/searching (deep &gt; complex)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63240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1363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081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1E293B"/>
                </a:solidFill>
                <a:latin typeface="Calibri"/>
              </a:defRPr>
            </a:pPr>
            <a:r>
              <a:t>Invert conditional semantics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1089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4748B"/>
                </a:solidFill>
                <a:latin typeface="Calibri"/>
              </a:defRPr>
            </a:pPr>
            <a:r>
              <a:t>if-blocks execute when condition is FALSE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86200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9593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9044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1E293B"/>
                </a:solidFill>
                <a:latin typeface="Calibri"/>
              </a:defRPr>
            </a:pPr>
            <a:r>
              <a:t>Provide only worked examples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9319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4748B"/>
                </a:solidFill>
                <a:latin typeface="Calibri"/>
              </a:defRPr>
            </a:pPr>
            <a:r>
              <a:t>Never state the rule explicitly; let students infer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09160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78231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727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1E293B"/>
                </a:solidFill>
                <a:latin typeface="Calibri"/>
              </a:defRPr>
            </a:pPr>
            <a:r>
              <a:t>Use AST-based grading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7548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4748B"/>
                </a:solidFill>
                <a:latin typeface="Calibri"/>
              </a:defRPr>
            </a:pPr>
            <a:r>
              <a:t>Check for inverted conditionals, not just output correctness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532120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6052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5504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1E293B"/>
                </a:solidFill>
                <a:latin typeface="Calibri"/>
              </a:defRPr>
            </a:pPr>
            <a:r>
              <a:t>Rotate confusion rules per semester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55778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4748B"/>
                </a:solidFill>
                <a:latin typeface="Calibri"/>
              </a:defRPr>
            </a:pPr>
            <a:r>
              <a:t>Prevent rule leakage into future training data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Limitations &amp; Threats to Validity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1">
                <a:solidFill>
                  <a:srgbClr val="60A5FA"/>
                </a:solidFill>
                <a:latin typeface="Calibri"/>
              </a:defRPr>
            </a:pPr>
            <a: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 Internal validity: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–  Fibonacci-centric: deep prior effect may not generalize to all recursive tasks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–  Example count confound: variant B uses 3 examples vs. 5 in others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–  Temperature fixed at default; higher temperature may yield different results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 External validity: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–  Limited to Python; other languages may have different prior distributions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–  13 models tested; newer architectures may overcome pattern blindness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–  No human baseline yet (planned as Exp-5)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 Construct validity: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–  PPR measures Python prior dominance but may miss novel failure modes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–  Operational substitution detection relies on AST heuristics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 E31/E35 now isolate prior-depth vs. I/O-transparency (resolved)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 E34 annotation density now tested on 3 models (gpt-4o, gpt-4.1-mini, o4-mini)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Related Work Connections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4A3B8"/>
                </a:solidFill>
                <a:latin typeface="Calibri"/>
              </a:defRPr>
            </a:pPr>
            <a:r>
              <a:t>CodeIF, MultiCodeIF, and instruction-following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1">
                <a:solidFill>
                  <a:srgbClr val="60A5FA"/>
                </a:solidFill>
                <a:latin typeface="Calibri"/>
              </a:defRPr>
            </a:pPr>
            <a:r>
              <a:t>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 CodeIF (2024): Instruction-following for code generation; tests explicit rule compliance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–  Our L3 is comparable; L4 goes beyond by withholding the rule entirely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 MultiCodeIF (2025): Multi-constraint instruction following across languages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–  Similar constraint framework but doesn't test implicit rule extraction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 IFEval / FollowBench: Natural language instruction-following benchmarks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–  Our work is domain-specific to code generation and prior entrenchment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 LLM-resistant assessment literature: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–  Prior work focuses on detection (plagiarism, AI-text classifiers)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–  Our approach is structural prevention — make tasks inherently unsolvable by LLMs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 NTP prior analysis (Mccoy et al., 2023; Kambhampati et al., 2024):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–  Theoretical grounding for why LLMs struggle with counter-prior tasks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–  Our work provides first large-scale empirical evidence in code domain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D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669280"/>
            <a:ext cx="12191695" cy="1188720"/>
          </a:xfrm>
          <a:prstGeom prst="rect">
            <a:avLst/>
          </a:prstGeom>
          <a:solidFill>
            <a:srgbClr val="10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45720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60A5FA"/>
                </a:solidFill>
                <a:latin typeface="Calibri"/>
              </a:defRPr>
            </a:pPr>
            <a:r>
              <a:t>Three Validated Design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 (1) L4 prior-entrenched tasks: semantic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inversion defeats ALL 13 models (1,140+ runs)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 (2) I/O opacity: opaque tasks create universal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resistance independent of prior strength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 (3) Prompt isolation required: cross-task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transfer breaks L4 if not isolated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 CoT ≠ generation; frontier models also fail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 Submission readiness: 92%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60A5FA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0D0E8"/>
                </a:solidFill>
                <a:latin typeface="Calibri"/>
              </a:defRPr>
            </a:pPr>
            <a:r>
              <a:t>•  Exp-5: Human study (student vs. LLM gap)</a:t>
            </a:r>
          </a:p>
          <a:p>
            <a:pPr>
              <a:spcAft>
                <a:spcPts val="600"/>
              </a:spcAft>
              <a:defRPr sz="1600">
                <a:solidFill>
                  <a:srgbClr val="C0D0E8"/>
                </a:solidFill>
                <a:latin typeface="Calibri"/>
              </a:defRPr>
            </a:pPr>
            <a:r>
              <a:t>•  Broader task coverage (nested control,</a:t>
            </a:r>
          </a:p>
          <a:p>
            <a:pPr>
              <a:spcAft>
                <a:spcPts val="600"/>
              </a:spcAft>
              <a:defRPr sz="1600">
                <a:solidFill>
                  <a:srgbClr val="C0D0E8"/>
                </a:solidFill>
                <a:latin typeface="Calibri"/>
              </a:defRPr>
            </a:pPr>
            <a:r>
              <a:t>   stateful logic)</a:t>
            </a:r>
          </a:p>
          <a:p>
            <a:pPr>
              <a:spcAft>
                <a:spcPts val="600"/>
              </a:spcAft>
              <a:defRPr sz="1600">
                <a:solidFill>
                  <a:srgbClr val="C0D0E8"/>
                </a:solidFill>
                <a:latin typeface="Calibri"/>
              </a:defRPr>
            </a:pPr>
            <a:r>
              <a:t>•  Execution-based judge for OpSub detection</a:t>
            </a:r>
          </a:p>
          <a:p>
            <a:pPr>
              <a:spcAft>
                <a:spcPts val="600"/>
              </a:spcAft>
              <a:defRPr sz="1600">
                <a:solidFill>
                  <a:srgbClr val="C0D0E8"/>
                </a:solidFill>
                <a:latin typeface="Calibri"/>
              </a:defRPr>
            </a:pPr>
            <a:r>
              <a:t>•  Cross-architecture replication</a:t>
            </a:r>
          </a:p>
          <a:p>
            <a:pPr>
              <a:spcAft>
                <a:spcPts val="600"/>
              </a:spcAft>
              <a:defRPr sz="1600">
                <a:solidFill>
                  <a:srgbClr val="C0D0E8"/>
                </a:solidFill>
                <a:latin typeface="Calibri"/>
              </a:defRPr>
            </a:pPr>
            <a:r>
              <a:t>•  Longitudinal: does training data leakage</a:t>
            </a:r>
          </a:p>
          <a:p>
            <a:pPr>
              <a:spcAft>
                <a:spcPts val="600"/>
              </a:spcAft>
              <a:defRPr sz="1600">
                <a:solidFill>
                  <a:srgbClr val="C0D0E8"/>
                </a:solidFill>
                <a:latin typeface="Calibri"/>
              </a:defRPr>
            </a:pPr>
            <a:r>
              <a:t>   degrade resistance over time?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60A5FA"/>
                </a:solidFill>
                <a:latin typeface="Calibri"/>
              </a:defRPr>
            </a:pPr>
            <a:r>
              <a:t>A student reasons about a rule; an LLM samples from a prior.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0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Full L1 KLR Data: Baseline vs. Context-Pack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 i="0">
                <a:solidFill>
                  <a:srgbClr val="D97706"/>
                </a:solidFill>
                <a:latin typeface="Calibri"/>
              </a:defRPr>
            </a:pPr>
            <a:r>
              <a:t>Appendix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D97706"/>
                </a:solidFill>
                <a:latin typeface="Calibri"/>
              </a:defRPr>
            </a:pPr>
            <a: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A1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92354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2011680"/>
                <a:gridCol w="109728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 KLR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Ctx-Pack KLR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gpt-4o-mini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−38%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gpt-4.1-mini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−51%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gpt-4.1-nano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gpt-5.4-mini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o4-mini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Llama-3.3-70B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Qwen3-32B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0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L4 Ablation: Per-Variant Breakdown (Variant A–E × 9 Models)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 i="0">
                <a:solidFill>
                  <a:srgbClr val="D97706"/>
                </a:solidFill>
                <a:latin typeface="Calibri"/>
              </a:defRPr>
            </a:pPr>
            <a:r>
              <a:t>Appendix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D97706"/>
                </a:solidFill>
                <a:latin typeface="Calibri"/>
              </a:defRPr>
            </a:pPr>
            <a: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A2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28016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956816"/>
                <a:gridCol w="1956816"/>
                <a:gridCol w="1956816"/>
                <a:gridCol w="1956816"/>
                <a:gridCol w="1956816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 A (5ex,Ø)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 B (3ex,Ø)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 C (5ex,subtle)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 D (5ex,mod)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 E (5ex,strong)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gpt-4o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gpt-4o-mini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gpt-4.1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gpt-4.1-mini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 (PPR=0.0)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gpt-4.1-nano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gpt-5.4-mini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0/8v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0/9v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0/9v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0/8v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0/8v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o4-mini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0/8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0/9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0/9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0/9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Llama-3.3-70B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0/5v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0/5v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0/5v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0/5v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0/5v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Qwen3-32B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0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CoT Ablation: Full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 i="0">
                <a:solidFill>
                  <a:srgbClr val="D97706"/>
                </a:solidFill>
                <a:latin typeface="Calibri"/>
              </a:defRPr>
            </a:pPr>
            <a:r>
              <a:t>Appendix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D97706"/>
                </a:solidFill>
                <a:latin typeface="Calibri"/>
              </a:defRPr>
            </a:pPr>
            <a: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A3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71600" y="1371600"/>
          <a:ext cx="9144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  <a:gridCol w="1524000"/>
                <a:gridCol w="1524000"/>
                <a:gridCol w="152400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No-CoT Pass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No-CoT PPR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CoT Pass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CoT PPR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0/20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0/20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gpt-4.1-mini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0/20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0/20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gpt-4.1-nano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0/20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0/20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o4-mini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0/20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0.60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1/20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0.55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+1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37160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563EB"/>
                </a:solidFill>
                <a:latin typeface="Calibri"/>
              </a:defRPr>
            </a:pPr>
            <a:r>
              <a:t>Total: 160 runs. CoT provides zero benefit for standard models; marginal +1/20 for reasoning model (o4-mini).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0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Llama-3.3-70B: Context-Sensitive Pattern Blindness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 i="0">
                <a:solidFill>
                  <a:srgbClr val="D97706"/>
                </a:solidFill>
                <a:latin typeface="Calibri"/>
              </a:defRPr>
            </a:pPr>
            <a:r>
              <a:t>Appendix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D97706"/>
                </a:solidFill>
                <a:latin typeface="Calibri"/>
              </a:defRPr>
            </a:pPr>
            <a: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A4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 Llama-3.3-70B (Groq, n=25 valid outputs across 5 variants)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 Overall: 0/25 pass, PPR = 0.52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–  Lower PPR than most OpenAI models → not purely prior-dominated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–  But still 0% pass rate → pattern blindness persists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 Variant-level analysis: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–  Variants A–B (no hint): PPR relatively high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–  Variants C–E (with hints): PPR drops, suggesting partial context sensitivity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–  But hints shift output style without achieving rule extraction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 Interpretation: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–  Llama-3.3-70B shows a different failure profile than GPT models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–  More sensitive to prompt hints but equally unable to extract implicit rules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–  Suggests pattern blindness is architecture-independent (transformer-general)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 L1 performance: KLR = 0.23 (best overall across all models)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–  Excellent at surface-level alias compliance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–  But L1 compliance does not predict L4 success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0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Operational Substitution Detection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 i="0">
                <a:solidFill>
                  <a:srgbClr val="D97706"/>
                </a:solidFill>
                <a:latin typeface="Calibri"/>
              </a:defRPr>
            </a:pPr>
            <a:r>
              <a:t>Appendix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D97706"/>
                </a:solidFill>
                <a:latin typeface="Calibri"/>
              </a:defRPr>
            </a:pPr>
            <a: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A5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 Goal: Distinguish true rule adoption from arithmetic workarounds</a:t>
            </a:r>
          </a:p>
          <a:p>
            <a:pPr>
              <a:spcAft>
                <a:spcPts val="300"/>
              </a:spcAft>
              <a:defRPr sz="15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 Detection pipeline:</a:t>
            </a:r>
          </a:p>
          <a:p>
            <a:pPr>
              <a:spcAft>
                <a:spcPts val="3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1. Extract generated code from model output</a:t>
            </a:r>
          </a:p>
          <a:p>
            <a:pPr>
              <a:spcAft>
                <a:spcPts val="3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2. Parse into AST (Python ast module)</a:t>
            </a:r>
          </a:p>
          <a:p>
            <a:pPr>
              <a:spcAft>
                <a:spcPts val="3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3. Identify all conditional nodes (if/elif/else)</a:t>
            </a:r>
          </a:p>
          <a:p>
            <a:pPr>
              <a:spcAft>
                <a:spcPts val="3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4. Check condition polarity against expected inverted semantics</a:t>
            </a:r>
          </a:p>
          <a:p>
            <a:pPr>
              <a:spcAft>
                <a:spcPts val="3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5. If conditions are standard BUT output matches expected → flag as OpSub</a:t>
            </a:r>
          </a:p>
          <a:p>
            <a:pPr>
              <a:spcAft>
                <a:spcPts val="300"/>
              </a:spcAft>
              <a:defRPr sz="15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 Classification criteria:</a:t>
            </a:r>
          </a:p>
          <a:p>
            <a:pPr>
              <a:spcAft>
                <a:spcPts val="3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–  True adoption: inverted condition + correct output</a:t>
            </a:r>
          </a:p>
          <a:p>
            <a:pPr>
              <a:spcAft>
                <a:spcPts val="3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–  Prior dominance: standard condition + standard output</a:t>
            </a:r>
          </a:p>
          <a:p>
            <a:pPr>
              <a:spcAft>
                <a:spcPts val="3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–  Operational substitution: standard condition + correct output (via arithmetic)</a:t>
            </a:r>
          </a:p>
          <a:p>
            <a:pPr>
              <a:spcAft>
                <a:spcPts val="300"/>
              </a:spcAft>
              <a:defRPr sz="15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 Validation: Manual review of 50 gpt-4o count_vowels outputs</a:t>
            </a:r>
          </a:p>
          <a:p>
            <a:pPr>
              <a:spcAft>
                <a:spcPts val="3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–  47/50 classified as operational substitution (94%)</a:t>
            </a:r>
          </a:p>
          <a:p>
            <a:pPr>
              <a:spcAft>
                <a:spcPts val="3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–  Common patterns: count -= 1, return len(s) - count, negation tricks</a:t>
            </a:r>
          </a:p>
          <a:p>
            <a:pPr>
              <a:spcAft>
                <a:spcPts val="300"/>
              </a:spcAft>
              <a:defRPr sz="15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 Limitation: AST-based detection may miss novel workaround strategies</a:t>
            </a:r>
          </a:p>
          <a:p>
            <a:pPr>
              <a:spcAft>
                <a:spcPts val="3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–  Future: execution-based judge for more robust detection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0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Metrics Definitions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 i="0">
                <a:solidFill>
                  <a:srgbClr val="D97706"/>
                </a:solidFill>
                <a:latin typeface="Calibri"/>
              </a:defRPr>
            </a:pPr>
            <a:r>
              <a:t>Appendix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D97706"/>
                </a:solidFill>
                <a:latin typeface="Calibri"/>
              </a:defRPr>
            </a:pPr>
            <a: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A6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560320"/>
                <a:gridCol w="758952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Full Name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1E2D5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KLR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Keyword Leakage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Fraction of outputs containing original Python keywords instead of aliases. Lower = better compliance.</a:t>
                      </a:r>
                    </a:p>
                  </a:txBody>
                  <a:tcPr anchor="ctr"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PPR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Python Prior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Fraction of outputs that reproduce standard Python patterns (e.g., if n&lt;=1: return n). 1.0 = full prior dominance.</a:t>
                      </a:r>
                    </a:p>
                  </a:txBody>
                  <a:tcPr anchor="ctr"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Prior Substitution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Weighted measure of how much standard Python structure persists in confusion language output.</a:t>
                      </a:r>
                    </a:p>
                  </a:txBody>
                  <a:tcPr anchor="ctr"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Prior Inversion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Fraction of conditionals where the model correctly inverts the condition. 1.0 = perfect inversion.</a:t>
                      </a:r>
                    </a:p>
                  </a:txBody>
                  <a:tcPr anchor="ctr"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Syntax Inversion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Fraction of outputs that fail to adopt inverted syntax rules. 0.0 = all outputs comply.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0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Prompt Engineering: L4 Variant A (Full Prompt)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 i="0">
                <a:solidFill>
                  <a:srgbClr val="D97706"/>
                </a:solidFill>
                <a:latin typeface="Calibri"/>
              </a:defRPr>
            </a:pPr>
            <a:r>
              <a:t>Appendix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D97706"/>
                </a:solidFill>
                <a:latin typeface="Calibri"/>
              </a:defRPr>
            </a:pPr>
            <a: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A7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System prompt structure (Variant A — 5 examples, no hint):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1. Role definition: 'You are a programmer in a confusion language'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2. Context: 'This language looks like Python but behaves differently'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3. Five worked examples showing: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   –  Simple conditional (if x &gt; 0: return 'neg' else: return 'pos')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   –  Loop with inverted condition check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   –  Nested conditional with inverted semantics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   –  Function with inverted guard clause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   –  Recursive function with inverted base case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4. Target task: 'Write fibonacci(n) in this confusion language'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Key design choices: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–  Never use words like 'invert', 'opposite', or 'negate'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–  Examples are self-consistent (all follow inverted rule)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–  Output format: raw code only, no explanation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Variant progression A→E adds progressively more explicit hints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while keeping the same example set (except B which uses 3 examples)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0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Repository Structure &amp; Reproduction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 i="0">
                <a:solidFill>
                  <a:srgbClr val="D97706"/>
                </a:solidFill>
                <a:latin typeface="Calibri"/>
              </a:defRPr>
            </a:pPr>
            <a:r>
              <a:t>Appendix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D97706"/>
                </a:solidFill>
                <a:latin typeface="Calibri"/>
              </a:defRPr>
            </a:pPr>
            <a: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A8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Repository: github.com/[redacted]/cse307-open-project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Directory structure: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experiments/          — All experiment scripts and data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experiments/results/  — Raw JSON outputs per experiment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paper/overleaf/       — LaTeX source for the paper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presentation/         — Slide generation scripts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docs/research/        — Research notes and analysis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Reproduction steps: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1. Clone repository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2. Install dependencies: pip install openai groq python-pptx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3. Set API keys: OPENAI_API_KEY, GROQ_API_KEY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4. Run experiments: python experiments/run_experiment.py --exp E01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5. Results saved to experiments/results/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Key experiment IDs: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E01–E05: L1 KLR experiments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E10–E15: L4 ablation (variants A–E)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E20–E24: Multi-task, hard tasks, frontier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E28: Annotation density gradient (o4-mini)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Total runs: 1,140+ L4 evaluations, ~590 L1 evaluations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
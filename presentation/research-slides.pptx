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Inverting Python: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0C4F0"/>
                </a:solidFill>
                <a:latin typeface="Calibri"/>
              </a:defRPr>
            </a:pPr>
            <a:r>
              <a:t>Designing NTP-Prior-Resistant Programming Languages</a:t>
            </a:r>
            <a:br/>
            <a:r>
              <a:t>toward LLM-Resistant Coding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474720"/>
            <a:ext cx="393192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Jaeyeong CHOI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B8D"/>
                </a:solidFill>
                <a:latin typeface="Calibri"/>
              </a:defRPr>
            </a:pPr>
            <a:r>
              <a:t>DGIST EECS  |  jaeyeong2022@dgist.ac.kr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B9BBB"/>
                </a:solidFill>
                <a:latin typeface="Calibri"/>
              </a:defRPr>
            </a:pPr>
            <a:r>
              <a:t>13 Models  |  950+ L4 Evaluations  |  4-Level Taxonomy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Research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B0C8"/>
                </a:solidFill>
                <a:latin typeface="Calibri"/>
              </a:defRPr>
            </a:pPr>
            <a:r>
              <a:t>Why This Research?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•  LLMs now solve standard programming tasks well enough to undermine assessment value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•  Students can use ChatGPT/Copilot to pass coding assignments without understanding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•  Traditional countermeasures (plagiarism detection, proctoring) are insufficient for LLM-generated code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•  Core Question: Can we design a language that humans can learn but LLMs cannot solve?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•  Key Insight: LLM code generation is governed by NTP (Next-Token Prediction) priors from training data</a:t>
            </a:r>
          </a:p>
          <a:p>
            <a:pPr>
              <a:spcAft>
                <a:spcPts val="1200"/>
              </a:spcAft>
              <a:defRPr sz="2000">
                <a:solidFill>
                  <a:srgbClr val="1A1A2E"/>
                </a:solidFill>
                <a:latin typeface="Calibri"/>
              </a:defRPr>
            </a:pPr>
            <a:r>
              <a:t>•  If we invert the semantics that LLMs have deeply memorized, we create a natural human-LLM asymmetry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Core Asymmetry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B0C8"/>
                </a:solidFill>
                <a:latin typeface="Calibri"/>
              </a:defRPr>
            </a:pPr>
            <a:r>
              <a:t>Human vs. LLM: Fundamentally Different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563EB"/>
                </a:solidFill>
                <a:latin typeface="Calibri"/>
              </a:defRPr>
            </a:pPr>
            <a:r>
              <a:t>Human 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•  Reads explicit rule from instructor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•  Verifies rule against worked examples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•  Applies rule step-by-step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•  Reasoning-based: rule → application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•  Can override prior knowledge with new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6A34A"/>
                </a:solidFill>
                <a:latin typeface="Calibri"/>
              </a:defRPr>
            </a:pPr>
            <a:r>
              <a:t>Result: Can learn inverted semantics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7830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DC2626"/>
                </a:solidFill>
                <a:latin typeface="Calibri"/>
              </a:defRPr>
            </a:pPr>
            <a:r>
              <a:t>LLM (GPT-4o, o4-mini, etc.)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4688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•  Samples from NTP prior distribution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•  Prior built from billions of Python tokens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•  if n &lt;= 1: return n is deeply entrenched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•  Generation-based: prior → sampling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•  Cannot override deep priors via in-context cues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7548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C2626"/>
                </a:solidFill>
                <a:latin typeface="Calibri"/>
              </a:defRPr>
            </a:pPr>
            <a:r>
              <a:t>Result: Fails on inverted Fibonacci (0%)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4-Level Confusion Language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B0C8"/>
                </a:solidFill>
                <a:latin typeface="Calibri"/>
              </a:defRPr>
            </a:pPr>
            <a:r>
              <a:t>Perturbation Depth x Rule Delivery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011680"/>
                <a:gridCol w="2011680"/>
                <a:gridCol w="3474720"/>
                <a:gridCol w="237744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Perturbation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Rule Delivery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Observed Result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Failure Mode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L1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Token Alias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Explicit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Partial resistance (KLR 0.21–0.69)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Prior Dominance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L2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Syntax Inversion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Explicit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Fully adopted by all models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None (adopted)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L3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Semantic Inversion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Explicit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Capacity-dependent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Model threshold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L4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Semantic Inversion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Implicit (examples only)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ALL models fail (0% pass)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Pattern Blindness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563EB"/>
                </a:solidFill>
                <a:latin typeface="Calibri"/>
              </a:defRPr>
            </a:pPr>
            <a:r>
              <a:t>L4 is the only level where ALL tested models fail regardless of capacity (950+ evaluations, 13 models)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B0C8"/>
                </a:solidFill>
                <a:latin typeface="Calibri"/>
              </a:defRPr>
            </a:pPr>
            <a:r>
              <a:t>Models, Tasks, and Evaluation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5303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13 Models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OpenAI Core (7): gpt-4o, gpt-4o-mini, gpt-4.1, gpt-4.1-mini, gpt-4.1-nano, gpt-5.4-mini, o4-mini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Frontier (2): gpt-5.4, o3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Open-weight (2): Llama-3.3-70B, Qwen3-32B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554480"/>
            <a:ext cx="53035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Evaluation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031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T1: Fibonacci (deep prior entrenchment)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T2: is_sorted (shallow prior)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T3: count_vowels (operational substitution target)</a:t>
            </a:r>
          </a:p>
          <a:p>
            <a:pPr>
              <a:spcAft>
                <a:spcPts val="6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H1-H3: merge_sort, binary_search, BFS (hard tasks)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206240"/>
            <a:ext cx="10972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Evaluation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5488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950+ total L4 evaluations across all conditions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L4 ablation: 7 models x 5 variants x n=50 = 350 runs (strict example-only)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Multi-task: 345 runs (3 tasks x 7 models, partially-annotated)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CoT ablation: 160 runs (4 models x 2 conditions x n=20)</a:t>
            </a:r>
          </a:p>
          <a:p>
            <a:pPr>
              <a:spcAft>
                <a:spcPts val="4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Metrics: Pass Rate, PPR (Python Prior Rate), KLR (Keyword Leakage Rate)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Results: L1 Keyword Leakage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B0C8"/>
                </a:solidFill>
                <a:latin typeface="Calibri"/>
              </a:defRPr>
            </a:pPr>
            <a:r>
              <a:t>Token Alias Substitution Creates Only Partial Resistance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Delivery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KLR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gpt-4.1-mini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ctx-pack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0.21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Llama-3.3-70B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ctx-pack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0.23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gpt-4o-mini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ctx-pack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0.26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o4-mini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ctx-pack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0.27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ctx-pack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0.30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0.37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gpt-5.4-mini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0.67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gpt-4.1-nano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0.69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Qwen3-32B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ctx-pack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589520" y="164592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286000"/>
            <a:ext cx="37490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Context-pack reduces KLR: gpt-4o-mini 0.42→0.26 (-38%)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gpt-5.4-mini (KLR=0.67) worse than older gpt-4o (0.37)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Qwen3-32B: worst result (KLR=1.00) across all models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Cross-family variance (0.23 vs 1.00) &gt; intra-family</a:t>
            </a:r>
          </a:p>
          <a:p>
            <a:pPr>
              <a:spcAft>
                <a:spcPts val="800"/>
              </a:spcAft>
              <a:defRPr sz="1400">
                <a:solidFill>
                  <a:srgbClr val="1A1A2E"/>
                </a:solidFill>
                <a:latin typeface="Calibri"/>
              </a:defRPr>
            </a:pPr>
            <a:r>
              <a:t>•  Architecture &amp; fine-tuning govern alias compliance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Results: L4 Pattern Blindness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B0C8"/>
                </a:solidFill>
                <a:latin typeface="Calibri"/>
              </a:defRPr>
            </a:pPr>
            <a:r>
              <a:t>ALL Models Fail on Prior-Entrenched Tasks (0% Pass Rate)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65408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426464"/>
                <a:gridCol w="1426464"/>
                <a:gridCol w="1426464"/>
                <a:gridCol w="1426464"/>
                <a:gridCol w="1426464"/>
                <a:gridCol w="1426464"/>
                <a:gridCol w="1426464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gpt-4o-mini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gpt-4.1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gpt-4.1-mini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gpt-4.1-nano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gpt-5.4-mini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o4-mini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Pass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DC2626"/>
                          </a:solidFill>
                          <a:latin typeface="Calibri"/>
                        </a:defRPr>
                      </a:pPr>
                      <a:r>
                        <a:t>0/50</a:t>
                      </a:r>
                    </a:p>
                  </a:txBody>
                  <a:tcPr anchor="ctr">
                    <a:solidFill>
                      <a:srgbClr val="FEE2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PPR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0.92</a:t>
                      </a:r>
                    </a:p>
                  </a:txBody>
                  <a:tcPr anchor="ctr"/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B7B8D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B7B8D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B7B8D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B7B8D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B7B8D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B7B8D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6B7B8D"/>
                          </a:solidFill>
                          <a:latin typeface="Calibri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42976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Calibri"/>
              </a:defRPr>
            </a:pPr>
            <a:r>
              <a:t>E24: Frontier Models Also Fail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gpt-5.4:  0/10  (PPR = 1.00)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o3:         0/10  (PPR = 1.00)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Pattern blindness persists even in the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latest frontier models (as of 2026-03-25)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297680"/>
            <a:ext cx="54864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434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563EB"/>
                </a:solidFill>
                <a:latin typeface="Calibri"/>
              </a:defRPr>
            </a:pPr>
            <a:r>
              <a:t>CoT Ablation: Reasoning ≠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160 CoT runs across 4 models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Models articulate inversion rule (100% mentions)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But still generate standard Python code</a:t>
            </a:r>
          </a:p>
          <a:p>
            <a:pPr>
              <a:spcAft>
                <a:spcPts val="400"/>
              </a:spcAft>
              <a:defRPr sz="1600">
                <a:solidFill>
                  <a:srgbClr val="1A1A2E"/>
                </a:solidFill>
                <a:latin typeface="Calibri"/>
              </a:defRPr>
            </a:pPr>
            <a:r>
              <a:t>•  Reasoning-generation dissociation confirmed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New Finding: Hard Tasks vs. Prior Entrenchment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B0C8"/>
                </a:solidFill>
                <a:latin typeface="Calibri"/>
              </a:defRPr>
            </a:pPr>
            <a:r>
              <a:t>Task Complexity ≠ LLM Resistance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  <a:gridCol w="14630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H1: merge_sort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H2: bin_search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H3: BFS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4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Overall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gpt-4o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4/10</a:t>
                      </a:r>
                    </a:p>
                  </a:txBody>
                  <a:tcPr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80%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gpt-5.4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o4-mini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10/10</a:t>
                      </a:r>
                    </a:p>
                  </a:txBody>
                  <a:tcPr anchor="ctr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6A34A"/>
                          </a:solidFill>
                          <a:latin typeface="Calibri"/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663440"/>
            <a:ext cx="5029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Calibri"/>
              </a:defRPr>
            </a:pPr>
            <a:r>
              <a:t>Contrast with L4 Fibonacci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Same models on Fibonacci: ALL fail (0%)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Same models on hard tasks: near 100%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Prior entrenchment depth, not task difficulty,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   governs LLM resistance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663440"/>
            <a:ext cx="5303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4754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Calibri"/>
              </a:defRPr>
            </a:pPr>
            <a:r>
              <a:t>Key Implication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521208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Harder ≠ more LLM-resistant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Deep, uniform priors (Fibonacci) = resistant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Varied implementations (BFS, sort) = extractable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  <a:latin typeface="Calibri"/>
              </a:defRPr>
            </a:pPr>
            <a:r>
              <a:t>•  Task selection is critical for assessment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Three 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B0C8"/>
                </a:solidFill>
                <a:latin typeface="Calibri"/>
              </a:defRPr>
            </a:pPr>
            <a:r>
              <a:t>Distinct Mechanisms Behind LLM Failure on Confusion Languages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661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563EB"/>
                </a:solidFill>
                <a:latin typeface="Calibri"/>
              </a:defRPr>
            </a:pPr>
            <a:r>
              <a:t>1. Prior Dominance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Stated or implicit rule is overridden by pretrained token distribution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Where: L1, L3-weak, L4-T1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Example: Model generates if n &lt;= 1: return n despite being told if-blocks run when FALSE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83.1% of all L4 failures (Type-I)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645920"/>
            <a:ext cx="35661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C2626"/>
                </a:solidFill>
                <a:latin typeface="Calibri"/>
              </a:defRPr>
            </a:pPr>
            <a:r>
              <a:t>2. Pattern Blindness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Model cannot extract semantic rule from examples alone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Where: L4-T1 (Fibonacci)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Key evidence: Same model follows rule at L3 (explicit) but fails at L4 (implicit)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Universal across all 13 tested models on Fibonacci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45920"/>
            <a:ext cx="35661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7830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580C"/>
                </a:solidFill>
                <a:latin typeface="Calibri"/>
              </a:defRPr>
            </a:pPr>
            <a:r>
              <a:t>3. Operational Substitution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37744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Model compensates via arithmetic transformation instead of adopting rule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Where: L4-T3 (count_vowels)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Example: count -= 1; return -count achieves correct output without rule</a:t>
            </a: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1A1A2E"/>
                </a:solidFill>
                <a:latin typeface="Calibri"/>
              </a:defRPr>
            </a:pPr>
            <a:r>
              <a:t>94% of gpt-4o T3 runs (47/50, CI: [83%, 99%])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Educational Implications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B0C8"/>
                </a:solidFill>
                <a:latin typeface="Calibri"/>
              </a:defRPr>
            </a:pPr>
            <a:r>
              <a:t>Practical Guidance for LLM-Resistant Programming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•  L4 confusion languages restore discriminative power in coding assessments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•  Students who understand rules (from lecture) retain advantage over LLM-assisted submissions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•  Current models universally fail L4 Fibonacci while humans can apply rules from examples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•  Design Recipe for Instructors: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 1. Retain Python surface syntax (students already know it)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 2. Invert conditional semantics (if-blocks execute when condition is FALSE)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 3. Provide only worked examples, NOT explicit rules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 4. Choose tasks with deep Python priors (e.g., Fibonacci recursion)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•  Caveats: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 –  Tasks with shallow priors (is_sorted) may still be solvable by capable models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 –  Partial annotation can help reasoning models (o4-mini: 8/15 with hints)</a:t>
            </a:r>
          </a:p>
          <a:p>
            <a:pPr>
              <a:spcAft>
                <a:spcPts val="400"/>
              </a:spcAft>
              <a:defRPr sz="1700">
                <a:solidFill>
                  <a:srgbClr val="1A1A2E"/>
                </a:solidFill>
                <a:latin typeface="Calibri"/>
              </a:defRPr>
            </a:pPr>
            <a:r>
              <a:t>     –  Human baseline study (Exp-5) is needed to quantify the exact performance gap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45720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  <a:latin typeface="Calibri"/>
              </a:defRPr>
            </a:pPr>
            <a:r>
              <a:t>Key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L4 semantic inversion defeats ALL tested models (13 models, 950+ runs)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Pattern blindness is the core mechanism: models cannot extract implicit rules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Prior entrenchment depth governs resistance, NOT task complexity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Three distinct failure modes identified and quantified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CoT reasoning helps articulate but NOT generate correct inverted code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 Frontier models (gpt-5.4, o3) also fail on prior-entrenched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0A5FA"/>
                </a:solidFill>
                <a:latin typeface="Calibri"/>
              </a:defRPr>
            </a:pPr>
            <a: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0D8E8"/>
                </a:solidFill>
                <a:latin typeface="Calibri"/>
              </a:defRPr>
            </a:pPr>
            <a:r>
              <a:t>•  Exp-5: Human study (student vs. LLM performance gap)</a:t>
            </a:r>
          </a:p>
          <a:p>
            <a:pPr>
              <a:spcAft>
                <a:spcPts val="800"/>
              </a:spcAft>
              <a:defRPr sz="1500">
                <a:solidFill>
                  <a:srgbClr val="D0D8E8"/>
                </a:solidFill>
                <a:latin typeface="Calibri"/>
              </a:defRPr>
            </a:pPr>
            <a:r>
              <a:t>•  Broader task coverage (nested control-flow, stateful logic)</a:t>
            </a:r>
          </a:p>
          <a:p>
            <a:pPr>
              <a:spcAft>
                <a:spcPts val="800"/>
              </a:spcAft>
              <a:defRPr sz="1500">
                <a:solidFill>
                  <a:srgbClr val="D0D8E8"/>
                </a:solidFill>
                <a:latin typeface="Calibri"/>
              </a:defRPr>
            </a:pPr>
            <a:r>
              <a:t>•  Execution-based judge for operational substitution</a:t>
            </a:r>
          </a:p>
          <a:p>
            <a:pPr>
              <a:spcAft>
                <a:spcPts val="800"/>
              </a:spcAft>
              <a:defRPr sz="1500">
                <a:solidFill>
                  <a:srgbClr val="D0D8E8"/>
                </a:solidFill>
                <a:latin typeface="Calibri"/>
              </a:defRPr>
            </a:pPr>
            <a:r>
              <a:t>•  Annotation density gradient for other reasoning models</a:t>
            </a:r>
          </a:p>
          <a:p>
            <a:pPr>
              <a:spcAft>
                <a:spcPts val="800"/>
              </a:spcAft>
              <a:defRPr sz="1500">
                <a:solidFill>
                  <a:srgbClr val="D0D8E8"/>
                </a:solidFill>
                <a:latin typeface="Calibri"/>
              </a:defRPr>
            </a:pPr>
            <a:r>
              <a:t>•  Isolate prior-depth vs. I/O-transparency confound</a:t>
            </a:r>
          </a:p>
          <a:p>
            <a:pPr>
              <a:spcAft>
                <a:spcPts val="800"/>
              </a:spcAft>
              <a:defRPr sz="1500">
                <a:solidFill>
                  <a:srgbClr val="D0D8E8"/>
                </a:solidFill>
                <a:latin typeface="Calibri"/>
              </a:defRPr>
            </a:pPr>
            <a:r>
              <a:t>•  Cross-architecture replication (more open-weight models)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101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0A5FA"/>
                </a:solidFill>
                <a:latin typeface="Calibri"/>
              </a:defRPr>
            </a:pPr>
            <a:r>
              <a:t>A student reasons about a rule; an LLM samples from a prior.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